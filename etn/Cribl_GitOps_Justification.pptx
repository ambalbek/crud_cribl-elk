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4320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0"/>
            <a:ext cx="1828800" cy="2743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Automation for Configuration Management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UI-driven changes on production leaders to corporate GitHub as source of truth — with verified Cribl GitOps Push, Harness CI/CD, and self-healing drift detection.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669280"/>
            <a:ext cx="45720" cy="6400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650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Aziz Gapur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DevOps &amp; Observability Engineer  ·  Platform Engineering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Deck  ·  For debate with Platform Eng, SRE Leadership, CAB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this fixes — auditability, promotion gates, operational consistency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4572000"/>
          </a:xfrm>
          <a:prstGeom prst="rect">
            <a:avLst/>
          </a:prstGeom>
          <a:solidFill>
            <a:srgbClr val="F8FAFD"/>
          </a:solidFill>
          <a:ln w="127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611880" cy="73152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UI edits on prod leaders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review on changes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validation before deploy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environment promotion gates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NFS-local Git is backup, not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drift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writes have no 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554480"/>
            <a:ext cx="3611880" cy="4572000"/>
          </a:xfrm>
          <a:prstGeom prst="rect">
            <a:avLst/>
          </a:prstGeom>
          <a:solidFill>
            <a:srgbClr val="F8FAFD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554480"/>
            <a:ext cx="36118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288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8056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GitHub as source of truth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80560" y="34747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in CRIBL_GIT_OPS=push (UI read-only)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calls POST /api/v1/version/sync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opens GitHub PRs (not API writes)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Folder-based env promotion via promote.sh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every 30 min, auto-heals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+ auto-rollback on prod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55280" y="1554480"/>
            <a:ext cx="3611880" cy="4572000"/>
          </a:xfrm>
          <a:prstGeom prst="rect">
            <a:avLst/>
          </a:prstGeom>
          <a:solidFill>
            <a:srgbClr val="F8FAFD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55280" y="1554480"/>
            <a:ext cx="361188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Cribl behaves like the rest of the platform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29600" y="34747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= reviewable PR + audit trail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test → altprod → prod with gates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 guaranteed identical SHA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 under 2 minutes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auto-corrected in 30 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HIPAA/compliance evidence improves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Cribl's official GitOps Push documentation — this is the vendor-recommended pattern, adapted to our topology.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— How Changes Happen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UI is the entry point; NFS-local Git is a backup, not a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in UI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2240280"/>
            <a:ext cx="502920" cy="0"/>
          </a:xfrm>
          <a:prstGeom prst="line">
            <a:avLst/>
          </a:prstGeom>
          <a:noFill/>
          <a:ln w="25400">
            <a:solidFill>
              <a:srgbClr val="56657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017520" y="1828800"/>
            <a:ext cx="2194560" cy="822960"/>
          </a:xfrm>
          <a:prstGeom prst="rect">
            <a:avLst/>
          </a:prstGeom>
          <a:solidFill>
            <a:srgbClr val="FEEAEA"/>
          </a:solidFill>
          <a:ln w="254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Leader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writable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65760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4 envs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349240" y="2240280"/>
            <a:ext cx="502920" cy="0"/>
          </a:xfrm>
          <a:prstGeom prst="line">
            <a:avLst/>
          </a:prstGeom>
          <a:noFill/>
          <a:ln w="25400">
            <a:solidFill>
              <a:srgbClr val="56657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852160" y="1828800"/>
            <a:ext cx="2011680" cy="822960"/>
          </a:xfrm>
          <a:prstGeom prst="rect">
            <a:avLst/>
          </a:prstGeom>
          <a:solidFill>
            <a:srgbClr val="FFF5E6"/>
          </a:solidFill>
          <a:ln w="25400">
            <a:solidFill>
              <a:srgbClr val="D6891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Local Git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9224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only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9224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not workflow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23360" y="2651760"/>
            <a:ext cx="0" cy="365760"/>
          </a:xfrm>
          <a:prstGeom prst="line">
            <a:avLst/>
          </a:prstGeom>
          <a:noFill/>
          <a:ln w="12700">
            <a:solidFill>
              <a:srgbClr val="566573"/>
            </a:solidFill>
            <a:prstDash val="dash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4160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poll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743200" y="3108960"/>
            <a:ext cx="27432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B7BCC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Worker Groups (per region)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931920"/>
            <a:ext cx="2011680" cy="822960"/>
          </a:xfrm>
          <a:prstGeom prst="rect">
            <a:avLst/>
          </a:prstGeom>
          <a:solidFill>
            <a:srgbClr val="FEEAEA"/>
          </a:solidFill>
          <a:ln w="254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9728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writes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468880" y="4343400"/>
            <a:ext cx="1097280" cy="-1097280"/>
          </a:xfrm>
          <a:prstGeom prst="line">
            <a:avLst/>
          </a:prstGeom>
          <a:noFill/>
          <a:ln w="25400">
            <a:solidFill>
              <a:srgbClr val="C8233C"/>
            </a:solidFill>
            <a:prstDash val="dash"/>
            <a:tailEnd type="triangle"/>
          </a:ln>
        </p:spPr>
      </p:sp>
      <p:sp>
        <p:nvSpPr>
          <p:cNvPr id="30" name="Text 24"/>
          <p:cNvSpPr/>
          <p:nvPr/>
        </p:nvSpPr>
        <p:spPr>
          <a:xfrm>
            <a:off x="237744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229600" y="1554480"/>
            <a:ext cx="3474720" cy="4663440"/>
          </a:xfrm>
          <a:prstGeom prst="rect">
            <a:avLst/>
          </a:prstGeom>
          <a:solidFill>
            <a:srgbClr val="FEEAEA"/>
          </a:solidFill>
          <a:ln w="127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4124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PROBLEMS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412480" y="210312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 review on any change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edit prod directly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validation before deploy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change replication across 4 regions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discovered during incidents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writes bypass all controls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rollback per region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= Cribl internal only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State — GitHub as Single Source of Truth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flow through PR review; Cribl UI is read-only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828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70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029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1828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529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7280" y="30358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331720" y="2029968"/>
            <a:ext cx="914400" cy="7315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331720" y="3035808"/>
            <a:ext cx="914400" cy="-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291840" y="2148840"/>
            <a:ext cx="1737360" cy="777240"/>
          </a:xfrm>
          <a:prstGeom prst="rect">
            <a:avLst/>
          </a:prstGeom>
          <a:solidFill>
            <a:srgbClr val="E8F0FE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3500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74920" y="253288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4983480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577840" y="2148840"/>
            <a:ext cx="17373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35000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1792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/version/sync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360920" y="2532888"/>
            <a:ext cx="1188720" cy="-93268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360920" y="2532888"/>
            <a:ext cx="1188720" cy="-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360920" y="2532888"/>
            <a:ext cx="1188720" cy="16459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360920" y="2532888"/>
            <a:ext cx="1188720" cy="7132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686800" y="1371600"/>
            <a:ext cx="237744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481328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5256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Waukegan — UI read-only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686800" y="1920240"/>
            <a:ext cx="237744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02996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Worth — UI read-only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686800" y="2468880"/>
            <a:ext cx="237744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578608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05256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North — UI read-only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686800" y="3017520"/>
            <a:ext cx="237744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127248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05256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South — UI read-only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57200" y="4206240"/>
            <a:ext cx="2212848" cy="19202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1289304" y="4434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032" y="4544568"/>
            <a:ext cx="329184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48640" y="5120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45" name="Text 34"/>
          <p:cNvSpPr/>
          <p:nvPr/>
        </p:nvSpPr>
        <p:spPr>
          <a:xfrm>
            <a:off x="548640" y="5486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reviewer + approval per change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2734056" y="4206240"/>
            <a:ext cx="2212848" cy="19202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3566160" y="4434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5888" y="4544568"/>
            <a:ext cx="329184" cy="32918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2825496" y="5120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400" dirty="0"/>
          </a:p>
        </p:txBody>
      </p:sp>
      <p:sp>
        <p:nvSpPr>
          <p:cNvPr id="50" name="Text 38"/>
          <p:cNvSpPr/>
          <p:nvPr/>
        </p:nvSpPr>
        <p:spPr>
          <a:xfrm>
            <a:off x="2825496" y="5486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test → altprod → prod with gates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5010912" y="4206240"/>
            <a:ext cx="2212848" cy="19202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5843016" y="4434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744" y="4544568"/>
            <a:ext cx="329184" cy="329184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102352" y="5120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55" name="Text 42"/>
          <p:cNvSpPr/>
          <p:nvPr/>
        </p:nvSpPr>
        <p:spPr>
          <a:xfrm>
            <a:off x="5102352" y="5486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 guaranteed identical SHA</a:t>
            </a:r>
            <a:endParaRPr lang="en-US" sz="1000" dirty="0"/>
          </a:p>
        </p:txBody>
      </p:sp>
      <p:sp>
        <p:nvSpPr>
          <p:cNvPr id="56" name="Shape 43"/>
          <p:cNvSpPr/>
          <p:nvPr/>
        </p:nvSpPr>
        <p:spPr>
          <a:xfrm>
            <a:off x="7287768" y="4206240"/>
            <a:ext cx="2212848" cy="19202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7" name="Shape 44"/>
          <p:cNvSpPr/>
          <p:nvPr/>
        </p:nvSpPr>
        <p:spPr>
          <a:xfrm>
            <a:off x="8119872" y="4434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4544568"/>
            <a:ext cx="329184" cy="329184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7379208" y="5120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60" name="Text 46"/>
          <p:cNvSpPr/>
          <p:nvPr/>
        </p:nvSpPr>
        <p:spPr>
          <a:xfrm>
            <a:off x="7379208" y="5486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Auto-corrected within 30 minutes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9564624" y="4206240"/>
            <a:ext cx="2212848" cy="19202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2" name="Shape 48"/>
          <p:cNvSpPr/>
          <p:nvPr/>
        </p:nvSpPr>
        <p:spPr>
          <a:xfrm>
            <a:off x="10396728" y="4434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6456" y="4544568"/>
            <a:ext cx="329184" cy="329184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9656064" y="51206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400" dirty="0"/>
          </a:p>
        </p:txBody>
      </p:sp>
      <p:sp>
        <p:nvSpPr>
          <p:cNvPr id="65" name="Text 50"/>
          <p:cNvSpPr/>
          <p:nvPr/>
        </p:nvSpPr>
        <p:spPr>
          <a:xfrm>
            <a:off x="9656064" y="5486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 → re-sync, under 2 min</a:t>
            </a:r>
            <a:endParaRPr lang="en-US" sz="1000" dirty="0"/>
          </a:p>
        </p:txBody>
      </p:sp>
      <p:sp>
        <p:nvSpPr>
          <p:cNvPr id="66" name="Text 5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67" name="Text 52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Topology Constraint That Drives the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Leader pair per region manages ALL 4 environments — this rules out branch-per-env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4663440"/>
          </a:xfrm>
          <a:prstGeom prst="rect">
            <a:avLst/>
          </a:prstGeom>
          <a:solidFill>
            <a:srgbClr val="0F1438"/>
          </a:solidFill>
          <a:ln w="12700">
            <a:solidFill>
              <a:srgbClr val="0F143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" cy="466344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Leader pair per region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manages all 4 environments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groups total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regions × 4 envs × 4 WG types)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3474720" cy="0"/>
          </a:xfrm>
          <a:prstGeom prst="line">
            <a:avLst/>
          </a:prstGeom>
          <a:noFill/>
          <a:ln w="12700">
            <a:solidFill>
              <a:srgbClr val="F5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5212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can only be pinned to ONE branch. Textbook branch-per-env GitOps is impossible. We use folder-per-env on a single branch instead.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Region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2103120"/>
            <a:ext cx="2286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24028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895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Leader Pair (1)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8952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standby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183880" y="2743200"/>
            <a:ext cx="-2514600" cy="274320"/>
          </a:xfrm>
          <a:prstGeom prst="line">
            <a:avLst/>
          </a:prstGeom>
          <a:noFill/>
          <a:ln w="12700">
            <a:solidFill>
              <a:srgbClr val="B7BCC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3017520"/>
            <a:ext cx="1554480" cy="411480"/>
          </a:xfrm>
          <a:prstGeom prst="rect">
            <a:avLst/>
          </a:prstGeom>
          <a:solidFill>
            <a:srgbClr val="F4F4F5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92040" y="35204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dev-aro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92040" y="3931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dev-filebeat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92040" y="434340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dev-syslog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92040" y="4754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dev-wec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183880" y="2743200"/>
            <a:ext cx="-777240" cy="274320"/>
          </a:xfrm>
          <a:prstGeom prst="line">
            <a:avLst/>
          </a:prstGeom>
          <a:noFill/>
          <a:ln w="12700">
            <a:solidFill>
              <a:srgbClr val="B7BCC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29400" y="3017520"/>
            <a:ext cx="1554480" cy="411480"/>
          </a:xfrm>
          <a:prstGeom prst="rect">
            <a:avLst/>
          </a:prstGeom>
          <a:solidFill>
            <a:srgbClr val="DBEAF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940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629400" y="35204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94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test-aro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629400" y="3931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2940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test-filebeat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629400" y="434340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940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test-syslog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629400" y="4754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2940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test-wec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183880" y="2743200"/>
            <a:ext cx="960120" cy="274320"/>
          </a:xfrm>
          <a:prstGeom prst="line">
            <a:avLst/>
          </a:prstGeom>
          <a:noFill/>
          <a:ln w="12700">
            <a:solidFill>
              <a:srgbClr val="B7BCC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66760" y="3017520"/>
            <a:ext cx="1554480" cy="411480"/>
          </a:xfrm>
          <a:prstGeom prst="rect">
            <a:avLst/>
          </a:prstGeom>
          <a:solidFill>
            <a:srgbClr val="FEF3C7"/>
          </a:solidFill>
          <a:ln w="19050">
            <a:solidFill>
              <a:srgbClr val="78350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6676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ALT-PROD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366760" y="35204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8350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6676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altprod-aro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366760" y="3931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8350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6676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altprod-filebeat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366760" y="434340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8350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6676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altprod-syslog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366760" y="4754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8350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6676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altprod-wec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183880" y="2743200"/>
            <a:ext cx="2697480" cy="274320"/>
          </a:xfrm>
          <a:prstGeom prst="line">
            <a:avLst/>
          </a:prstGeom>
          <a:noFill/>
          <a:ln w="12700">
            <a:solidFill>
              <a:srgbClr val="B7BCC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104120" y="3017520"/>
            <a:ext cx="1554480" cy="411480"/>
          </a:xfrm>
          <a:prstGeom prst="rect">
            <a:avLst/>
          </a:prstGeom>
          <a:solidFill>
            <a:srgbClr val="FEE2E2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10412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10104120" y="352044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10412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prod-aro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10104120" y="393192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10412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prod-filebeat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0104120" y="434340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10412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prod-syslog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0104120" y="4754880"/>
            <a:ext cx="15544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7F1D1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10412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prod-wec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754880" y="54864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worker groups per region × 4 regions = 64 worker groups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branch (main); environments are folders; CODEOWNERS enforces access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943600" cy="4572000"/>
          </a:xfrm>
          <a:prstGeom prst="rect">
            <a:avLst/>
          </a:prstGeom>
          <a:solidFill>
            <a:srgbClr val="0F1438"/>
          </a:solidFill>
          <a:ln w="12700">
            <a:solidFill>
              <a:srgbClr val="0F143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hcsc/cribl-config (branch: main)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validate-pr.yml          # lint + schema + secrets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drift-detect.yml         # every 30 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CODEOWNERS                 # per-folder reviewers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.harness/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pipelines/cribl-config-sync.yaml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dev-aro/      local/cribl/{inputs,outputs,routes}.yml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dev-filebeat/ local/cribl/...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dev-syslog/   local/cribl/...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dev-wec/      local/cribl/...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test-aro/, test-filebeat/, test-syslog/, test-wec/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altprod-aro/, altprod-filebeat/, altprod-syslog/...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prod-aro/, prod-filebeat/, prod-syslog/, prod-wec/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local/cribl/                 # leader-level config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cribl-sync.sh              # ONLY thing that calls Cribl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promote.sh                 # opens PRs for env promotion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validate-against-cribl.sh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                   # cribl.secret, ssh keys, certs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554480"/>
            <a:ext cx="5029200" cy="4572000"/>
          </a:xfrm>
          <a:prstGeom prst="rect">
            <a:avLst/>
          </a:prstGeom>
          <a:solidFill>
            <a:srgbClr val="F8FAFD"/>
          </a:solidFill>
          <a:ln w="1270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554480"/>
            <a:ext cx="5029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CODEOWNERS — Access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084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Per-folder reviewer requirements enforce env-level approval gates on a single branch.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2606040"/>
            <a:ext cx="73152" cy="45720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groups/dev-*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cribl-team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154680"/>
            <a:ext cx="731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groups/test-*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cribl-team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703320"/>
            <a:ext cx="73152" cy="45720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groups/altprod-*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cribl-leads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4251960"/>
            <a:ext cx="73152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groups/prod-*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cribl-leads + security-team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4800600"/>
            <a:ext cx="7315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cribl-staff-eng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5532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GitHub branch protection on main, this gives environment-level access control without environment-level branches.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Folder-Based Promotion (Not Branch-Based)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promote configs via ./promote.sh — each step is a reviewable PR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37260" y="2194560"/>
            <a:ext cx="2194560" cy="1371600"/>
          </a:xfrm>
          <a:prstGeom prst="rect">
            <a:avLst/>
          </a:prstGeom>
          <a:solidFill>
            <a:srgbClr val="F4F4F5"/>
          </a:solidFill>
          <a:ln w="25400">
            <a:solidFill>
              <a:srgbClr val="71717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726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72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groups/dev-aro/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72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local/cribl/routes.yml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34740" y="2194560"/>
            <a:ext cx="2194560" cy="137160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474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47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groups/test-aro/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47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local/cribl/routes.yml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32220" y="2194560"/>
            <a:ext cx="2194560" cy="1371600"/>
          </a:xfrm>
          <a:prstGeom prst="rect">
            <a:avLst/>
          </a:prstGeom>
          <a:solidFill>
            <a:srgbClr val="FEF3C7"/>
          </a:solidFill>
          <a:ln w="25400">
            <a:solidFill>
              <a:srgbClr val="78350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22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ALT-PROD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322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groups/altprod-aro/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322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local/cribl/routes.yml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29700" y="2194560"/>
            <a:ext cx="219456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7F1D1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2970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297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groups/prod-aro/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297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local/cribl/routes.yml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31820" y="2880360"/>
            <a:ext cx="5029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8610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6100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29300" y="2880360"/>
            <a:ext cx="5029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78358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83580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26780" y="2880360"/>
            <a:ext cx="5029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48106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81060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PR is opened automatically by:  ./scripts/promote.sh &lt;from-env&gt; &lt;to-env&gt; &lt;wg-type&gt;  — e.g.  ./promote.sh dev test aro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5577840" cy="1828800"/>
          </a:xfrm>
          <a:prstGeom prst="rect">
            <a:avLst/>
          </a:prstGeom>
          <a:solidFill>
            <a:srgbClr val="FEEAEA"/>
          </a:solidFill>
          <a:ln w="127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343400"/>
            <a:ext cx="5577840" cy="73152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2628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97280" y="4544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BRANCH-PER-ENV?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5800" y="49377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Cribl Leader can only be pinned to ONE branch via CRIBL_GIT_BRANCH. Since our Leader manages dev, test, altprod, AND prod worker groups simultaneously, it cannot live on a 'prod' branch while serving dev work. Branch-per-env is the Cribl tutorial pattern — but it assumes a separate Leader per environment. Our topology is different.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26480" y="4343400"/>
            <a:ext cx="557784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26480" y="4343400"/>
            <a:ext cx="557784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526280"/>
            <a:ext cx="320040" cy="32004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766560" y="4544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FOLDER-BASED PROMOTION WORKS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355080" y="49377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YAML across envs — only worker VM environment variables differ (ELK_ENDPOINT, ENV_NAME). promote.sh opens a PR copying config between env folders. Each promotion is reviewable with clear diff. CODEOWNERS enforces escalating approval. Cribl deploys per worker group, so only the changed env's WGs redeploy.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Change Flow — Routes, Sources, Destinations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prototypes in sandbox, then opens PRs for each env promotion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drafts config in personal sandbox Cribl VM (not in cluster)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214884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to dev folder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148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groups/dev-aro/local/cribl/routes.yml → 1 reviewer → 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274320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syncs dev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743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sync to 4 regions; only dev-aro worker groups redeploy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333756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dev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337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confirms behavior in dev-aro worker group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7280" y="393192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./promote.sh dev test aro → auto-PR → peer review → merge → sync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97280" y="452628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 altprod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45262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./promote.sh test altprod aro → auto-PR → lead review → sync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457200" cy="457200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97280" y="512064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 prod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0" y="5120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./promote.sh altprod prod aro → CAB approval → canary 1 region → 15-min soak → rollout to remaining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760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97280" y="5715000"/>
            <a:ext cx="106070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715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notify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0" y="57150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verifies SHA across all leaders; Slack/Teams success notification; change ticket auto-closed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Onboarding via cribl-framework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becomes a GitHub PR factory, not a Cribl API client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219456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0391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 Form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submits via framework portal: app name, owner, data class, PII level, retention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63824" y="274320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1645920"/>
            <a:ext cx="2697480" cy="219456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459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054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03911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 &amp; Generate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checks naming, owner, duplicates → generates inputs/routes/pipelines YAML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98464" y="274320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126480" y="1645920"/>
            <a:ext cx="2697480" cy="219456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6459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5518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03911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PR via API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6364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creates feature branch, commits YAML to dev-* folders, opens PR with metadata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833104" y="2743200"/>
            <a:ext cx="11887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961120" y="1645920"/>
            <a:ext cx="2697480" cy="219456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961120" y="16459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989820" y="1920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2039112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9828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Auto-merge or Queue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09828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low-risk pattern auto-merges; high-risk queues for human approval in framework UI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4206240"/>
            <a:ext cx="5623560" cy="1920240"/>
          </a:xfrm>
          <a:prstGeom prst="rect">
            <a:avLst/>
          </a:prstGeom>
          <a:solidFill>
            <a:srgbClr val="FEEAEA"/>
          </a:solidFill>
          <a:ln w="12700">
            <a:solidFill>
              <a:srgbClr val="C8233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" y="4206240"/>
            <a:ext cx="5623560" cy="73152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0080" y="43434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Framework today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0080" y="470916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directly to Cribl REST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review, no audit outside framework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moment prod UI goes read-only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Cribl admin token — wide blast radius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172200" y="4206240"/>
            <a:ext cx="553212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172200" y="4206240"/>
            <a:ext cx="55321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355080" y="43434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Framework as PR factory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355080" y="470916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GitHub API to open PRs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inherit PR review + audit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regardless of Cribl UI mode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GitHub token only — narrow scope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Pipeline —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triggered by webhook on push to main; canary + rollback built 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5544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commit SHA + changed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30552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130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1305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env+WG folders changed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06624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066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7066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70662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lint, schema check, secret scan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82696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8269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2826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28269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altprod = Slack approval; prod = CAB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5212080" cy="530352"/>
          </a:xfrm>
          <a:prstGeom prst="rect">
            <a:avLst/>
          </a:prstGeom>
          <a:solidFill>
            <a:srgbClr val="FFF5E6"/>
          </a:solidFill>
          <a:ln w="6350">
            <a:solidFill>
              <a:srgbClr val="D689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58768"/>
            <a:ext cx="548640" cy="5303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5876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8587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(prod only)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38587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1 region; 15-min metrics soak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34840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348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4434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all regions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4348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sync to 4 regions, matrix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10912"/>
            <a:ext cx="5212080" cy="530352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10912"/>
            <a:ext cx="54864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1091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5010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501091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SHA across all worker groups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586984"/>
            <a:ext cx="5212080" cy="530352"/>
          </a:xfrm>
          <a:prstGeom prst="rect">
            <a:avLst/>
          </a:prstGeom>
          <a:solidFill>
            <a:srgbClr val="FFF5E6"/>
          </a:solidFill>
          <a:ln w="6350">
            <a:solidFill>
              <a:srgbClr val="D689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586984"/>
            <a:ext cx="548640" cy="5303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5869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" y="55869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or rollback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017520" y="558698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success OR git revert + page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1554480"/>
            <a:ext cx="5760720" cy="4663440"/>
          </a:xfrm>
          <a:prstGeom prst="rect">
            <a:avLst/>
          </a:prstGeom>
          <a:solidFill>
            <a:srgbClr val="0F1438"/>
          </a:solidFill>
          <a:ln w="12700">
            <a:solidFill>
              <a:srgbClr val="0F143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807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Cribl API call — scripts/cribl-sync.sh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26480" y="20116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REGION=$1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LEADER="cribl-${REGION}.internal"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Authenticate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TOKEN=$(curl -fsS -X POST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"https://${LEADER}:9000/api/v1/auth/login"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"{\"username\":\"${SVC_USER}\",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\"password\":\"${SVC_PASS}\"}"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-r '.token')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Sync from GitHub + deploy (the magic)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 -X POST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"https://${LEADER}:9000/api/v1/version/sync"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"Authorization: Bearer ${TOKEN}"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"ref=main&amp;deploy=true"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Wait for workers (10s poll)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Verify SHA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EXPECTED=$(git rev-parse origin/main)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DEPLOYED=$(./get-leader-sha.sh ${LEADER})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"$DEPLOYED" == "$EXPECTED" ]] || exit 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 Leader Architecture — Unchanged from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failover volume stays; we only add the GitHub remote on top of existing local Git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31720" y="2011680"/>
            <a:ext cx="777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331720" y="1371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:9000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/version/sync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08960" y="1645920"/>
            <a:ext cx="1828800" cy="731520"/>
          </a:xfrm>
          <a:prstGeom prst="rect">
            <a:avLst/>
          </a:prstGeom>
          <a:solidFill>
            <a:srgbClr val="E8F0FE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NLB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every 60s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560320" y="2743200"/>
            <a:ext cx="210312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971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004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1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0040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(active)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20040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read-only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937760" y="2743200"/>
            <a:ext cx="2103120" cy="82296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971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(proxy)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57784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read-only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657600" y="2377440"/>
            <a:ext cx="-4572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023360" y="2377440"/>
            <a:ext cx="196596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0" y="3931920"/>
            <a:ext cx="4114800" cy="640080"/>
          </a:xfrm>
          <a:prstGeom prst="rect">
            <a:avLst/>
          </a:prstGeom>
          <a:solidFill>
            <a:srgbClr val="FFF5E6"/>
          </a:solidFill>
          <a:ln w="25400">
            <a:solidFill>
              <a:srgbClr val="D6891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690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8328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 NFS v4.1 (Premium)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38328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failover volume — Cribl HA requirement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657600" y="3566160"/>
            <a:ext cx="0" cy="365760"/>
          </a:xfrm>
          <a:prstGeom prst="line">
            <a:avLst/>
          </a:prstGeom>
          <a:noFill/>
          <a:ln w="19050">
            <a:solidFill>
              <a:srgbClr val="D6891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943600" y="3566160"/>
            <a:ext cx="0" cy="365760"/>
          </a:xfrm>
          <a:prstGeom prst="line">
            <a:avLst/>
          </a:prstGeom>
          <a:noFill/>
          <a:ln w="19050">
            <a:solidFill>
              <a:srgbClr val="D6891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solidFill>
            <a:srgbClr val="0F1438"/>
          </a:solidFill>
          <a:ln w="12700">
            <a:solidFill>
              <a:srgbClr val="0F1438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7180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9728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109728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2331720" y="31546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7772400" y="1645920"/>
            <a:ext cx="3931920" cy="2926080"/>
          </a:xfrm>
          <a:prstGeom prst="rect">
            <a:avLst/>
          </a:prstGeom>
          <a:solidFill>
            <a:srgbClr val="F8FAFD"/>
          </a:solidFill>
          <a:ln w="1270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78638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Worker Groups (this region)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7955280" y="2103120"/>
            <a:ext cx="3566160" cy="457200"/>
          </a:xfrm>
          <a:prstGeom prst="rect">
            <a:avLst/>
          </a:prstGeom>
          <a:solidFill>
            <a:srgbClr val="F4F4F5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9552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dev-* (4 WG types)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7955280" y="2670048"/>
            <a:ext cx="3566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955280" y="2670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test-* (4 WG types)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7955280" y="3236976"/>
            <a:ext cx="3566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955280" y="3236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altprod-* (4 WG types)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7955280" y="3803904"/>
            <a:ext cx="35661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955280" y="38039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prod-* (4 WG types)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7040880" y="3154680"/>
            <a:ext cx="68580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dash"/>
            <a:tailEnd type="triangle"/>
          </a:ln>
        </p:spPr>
      </p:sp>
      <p:sp>
        <p:nvSpPr>
          <p:cNvPr id="49" name="Text 41"/>
          <p:cNvSpPr/>
          <p:nvPr/>
        </p:nvSpPr>
        <p:spPr>
          <a:xfrm>
            <a:off x="694944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4200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poll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57200" y="5669280"/>
            <a:ext cx="73152" cy="640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8580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change — NFS HA, leader pair, load balancer, worker poll all stay as-is. We are only adding the GitHub remote and CRIBL_GIT_OPS=push to systemd overrides.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Detection &amp; Rollback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'single source of truth' enforceable, not just aspirational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77840" cy="457200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minutes, auto-heals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" y="2697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cron triggers every 30 min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308152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3081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region: GET /version on leader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346557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7280" y="3465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leader SHA to origin/main HEAD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" y="384962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" y="3849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mismatch → call cribl-sync.sh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423367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97280" y="4233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Re-trigger POST /version/sync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5800" y="461772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" y="4617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Slack with drift event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5800" y="500176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97280" y="5001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monitoring for trend analysis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5800" y="5760720"/>
            <a:ext cx="51206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5760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drift duration: 30 minutes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1645920"/>
            <a:ext cx="5577840" cy="73152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457200" cy="4572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94944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94944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canary failure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355080" y="2697480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50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76656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metrics breach SLO during soak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355080" y="3081528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5508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76656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runs: gh api PATCH main = HEAD~1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355080" y="3465576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35508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766560" y="3465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Force-push revert commit to main branch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355080" y="3849624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35508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6766560" y="3849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triggers normal pipeline (no special path)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6355080" y="4233672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3550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766560" y="42336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/version/sync parallel to 4 regions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6355080" y="4617720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35508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766560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rollback SHA across all leaders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6355080" y="5001768"/>
            <a:ext cx="292608" cy="292608"/>
          </a:xfrm>
          <a:prstGeom prst="ellipse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35508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6766560" y="5001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on-call + auto-create incident ticket</a:t>
            </a:r>
            <a:endParaRPr lang="en-US" sz="1100" dirty="0"/>
          </a:p>
        </p:txBody>
      </p:sp>
      <p:sp>
        <p:nvSpPr>
          <p:cNvPr id="59" name="Shape 55"/>
          <p:cNvSpPr/>
          <p:nvPr/>
        </p:nvSpPr>
        <p:spPr>
          <a:xfrm>
            <a:off x="6355080" y="5760720"/>
            <a:ext cx="5120640" cy="411480"/>
          </a:xfrm>
          <a:prstGeom prst="rect">
            <a:avLst/>
          </a:prstGeom>
          <a:solidFill>
            <a:srgbClr val="C8233C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355080" y="5760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time: under 2 minutes end-to-end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— 17-Week Phased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1-5 are zero-risk (additions only); Phase 7 is the one-way door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55448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55448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cleanup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NFS-local Git, scrub secrets, verify Enterprise license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652760" y="155448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52760" y="15544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214884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14884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to GitHub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existing configs to corporate repo, set CODEOWNERS + branch protection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52760" y="214884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52760" y="2148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51560" y="274320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74320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 connect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Waukegan leader gets GitHub remote (GIT_OPS=None, UI still writable)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52760" y="274320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52760" y="2743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51560" y="333756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3337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33756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3337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pipeline, promote.sh, validation, drift detection — test on Waukegan only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652760" y="333756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52760" y="33375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51560" y="393192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377440" y="393192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connectivity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3 regions connected; 2-week soak with drift detection running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652760" y="393192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52760" y="39319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52628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051560" y="452628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4526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77440" y="452628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4526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refactor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2920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framework: API in dev, PR in test/altprod/prod; parallel run validation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652760" y="4526280"/>
            <a:ext cx="1051560" cy="548640"/>
          </a:xfrm>
          <a:prstGeom prst="rect">
            <a:avLst/>
          </a:prstGeom>
          <a:solidFill>
            <a:srgbClr val="FFF5E6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52760" y="4526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512064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P7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51560" y="512064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1560" y="5120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12-15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377440" y="512064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14600" y="5120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to GitOps Push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at a time → UI becomes read-only. ONE-WAY DOOR.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652760" y="5120640"/>
            <a:ext cx="1051560" cy="548640"/>
          </a:xfrm>
          <a:prstGeom prst="rect">
            <a:avLst/>
          </a:prstGeom>
          <a:solidFill>
            <a:srgbClr val="FEEAEA"/>
          </a:solidFill>
          <a:ln w="12700">
            <a:solidFill>
              <a:srgbClr val="C823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52760" y="51206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571500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5715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P8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1051560" y="5715000"/>
            <a:ext cx="1280160" cy="548640"/>
          </a:xfrm>
          <a:prstGeom prst="rect">
            <a:avLst/>
          </a:prstGeom>
          <a:solidFill>
            <a:srgbClr val="E8F0FE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51560" y="5715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16-17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377440" y="5715000"/>
            <a:ext cx="822960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B7BC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14600" y="5715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029200" y="5715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UI editing, onboard engineers to PR flow, sandbox VM, retrospective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652760" y="5715000"/>
            <a:ext cx="105156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52760" y="57150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Against Cribl Official Documentation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load-bearing claim has a documentation source — this is not invented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DOCUMENTATION 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305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057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CRIBL_GIT_OPS=push makes UI read-only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Environment Variables docs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450592"/>
            <a:ext cx="112471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2374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4505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/api/v1/version/sync is the GitOps trigger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8952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tutorial + blog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43784"/>
            <a:ext cx="11247120" cy="36576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1693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8437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ref=branch &amp; deploy=true parameter combo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589520" y="28437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tutorial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236976"/>
            <a:ext cx="112471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1012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2369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leaders share via NFS failover volume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589520" y="3236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Leader High Availability docs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630168"/>
            <a:ext cx="11247120" cy="36576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0332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36301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poll leader every 10 seconds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589520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Distributed Deployment docs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9651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4023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requires Enterprise license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58952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tutorial (explicit)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57200" y="4416552"/>
            <a:ext cx="11247120" cy="36576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489704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4400" y="44165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health check /health:9000 every 60s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758952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HA Requirements docs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57200" y="4809744"/>
            <a:ext cx="112471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882896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4400" y="480974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required on port 4200 worker traffic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7589520" y="4809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HA Requirements docs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57200" y="5202936"/>
            <a:ext cx="11247120" cy="36576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5276088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14400" y="520293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over repos is Cribl-recommended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7589520" y="5202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best practices blog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457200" y="5596128"/>
            <a:ext cx="112471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5669280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14400" y="55961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cribl.secret auto-commits — needs .gitignore</a:t>
            </a:r>
            <a:endParaRPr lang="en-US" sz="1100" dirty="0"/>
          </a:p>
        </p:txBody>
      </p:sp>
      <p:sp>
        <p:nvSpPr>
          <p:cNvPr id="47" name="Text 35"/>
          <p:cNvSpPr/>
          <p:nvPr/>
        </p:nvSpPr>
        <p:spPr>
          <a:xfrm>
            <a:off x="7589520" y="5596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Version Control docs (warning)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solidFill>
            <a:srgbClr val="0F1438"/>
          </a:solidFill>
          <a:ln w="12700">
            <a:solidFill>
              <a:srgbClr val="0F1438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Cribl's published GitOps Push pattern — adapted to our specific topology (one Leader pair per region managing all envs).</a:t>
            </a:r>
            <a:endParaRPr lang="en-US" sz="1100" dirty="0"/>
          </a:p>
        </p:txBody>
      </p:sp>
      <p:sp>
        <p:nvSpPr>
          <p:cNvPr id="50" name="Text 3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identified during design — and how we address each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554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mirror leaks cribl.secret to corporate 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filter-repo or BFG to scrub history before push; .gitignore covers all secret files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Push flip deletes uncommitted UI 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$CRIBL_HOME tarball backup per Cribl docs; verify git status clean on all leaders first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1247120" cy="50292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refactor introduces onboarding bugs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run: framework writes via both API + PR for 2 weeks in dev; compare outputs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resist PR workflow (slower than UI)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611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611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VM for prototyping; invest in tooling (good PR templates, fast validation, Slack bots)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pipeline fails during prod deploy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1605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160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cribl-sync.sh fallback documented; on-call SRE can run sync.sh directly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11247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Per-env encryption key mixup (dev secret in prod)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709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709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via Azure Key Vault; cribl.secret never enters Git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solidFill>
            <a:srgbClr val="F8FAFD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Enterprise license fails or expires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5257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5257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monitoring alert; renewal triggered 60 days before expiry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7BC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806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bypass by admin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5806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0" y="5806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0" y="5806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audit log monitored; quarterly access review of admin team membership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 GitOps Full Automation — Aziz Gapur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the Proper Way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debate points for stakeholders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Cribl's documented GitOps Push pattern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651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Vendor-recommended, not invented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210312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10312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 class of incidents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49440" y="2651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prod edits, drift, unreviewed writes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15468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15468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2918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dictates the design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703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Folder-per-env is forced, not chosen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172200" y="315468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72200" y="315468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29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2918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framework investment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49440" y="3703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becomes the PR factory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805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topology unchanged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25880" y="4754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 to existing reliability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72200" y="420624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72200" y="420624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805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49440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until Phase 7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49440" y="4754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 months are pure additions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525780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48640" y="525780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32120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53949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HIPAA evidence improves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325880" y="5806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becomes immutable artifact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172200" y="5257800"/>
            <a:ext cx="55321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172200" y="5257800"/>
            <a:ext cx="73152" cy="960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532120"/>
            <a:ext cx="411480" cy="4114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49440" y="53949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enforces single source of truth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949440" y="5806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 guaranteed in 30 min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640080" y="6309360"/>
            <a:ext cx="4572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Aziz Gapur  ·  Sr. DevOps &amp; Observability Engineer  ·  Platform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Cribl GitOps Full Automation — Justification Deck</dc:title>
  <dc:subject>PptxGenJS Presentation</dc:subject>
  <dc:creator>Aziz Gapur</dc:creator>
  <cp:lastModifiedBy>Aziz Gapur</cp:lastModifiedBy>
  <cp:revision>1</cp:revision>
  <dcterms:created xsi:type="dcterms:W3CDTF">2026-05-17T23:25:07Z</dcterms:created>
  <dcterms:modified xsi:type="dcterms:W3CDTF">2026-05-17T23:25:07Z</dcterms:modified>
</cp:coreProperties>
</file>